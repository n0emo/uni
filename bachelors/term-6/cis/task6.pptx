
<file path=[Content_Types].xml><?xml version="1.0" encoding="utf-8"?>
<Types xmlns="http://schemas.openxmlformats.org/package/2006/content-types">
  <Default Extension="jpg" ContentType="image/jpeg"/>
  <Default Extension="wmf" ContentType="image/x-wmf"/>
  <Default Extension="png" ContentType="image/png"/>
  <Default Extension="xml" ContentType="application/xml"/>
  <Default Extension="jpeg" ContentType="image/jpeg"/>
  <Default Extension="rels" ContentType="application/vnd.openxmlformats-package.relationships+xml"/>
  <Default Extension="bin" ContentType="application/vnd.openxmlformats-officedocument.oleObject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6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9.xml" ContentType="application/vnd.openxmlformats-officedocument.presentationml.notesSlide+xml"/>
  <Override PartName="/ppt/theme/theme1.xml" ContentType="application/vnd.openxmlformats-officedocument.theme+xml"/>
  <Override PartName="/docProps/app.xml" ContentType="application/vnd.openxmlformats-officedocument.extended-properties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8.xml" ContentType="application/vnd.openxmlformats-officedocument.presentationml.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1.xml" ContentType="application/vnd.openxmlformats-officedocument.presentationml.slide+xml"/>
  <Override PartName="/ppt/theme/theme2.xml" ContentType="application/vnd.openxmlformats-officedocument.them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9" d="100"/>
          <a:sy n="109" d="100"/>
        </p:scale>
        <p:origin x="636" y="10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C4BFCB-9E58-81D3-E9EE-4C5ED7A031DA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57C773-F35E-D3C6-A5F0-B06D03BEC48D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096696-A325-3DA8-FF8A-1B4AD68227B5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105BD5-E7A1-1CA7-E688-7D9A6BB4E3AE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F59869-56C1-3C36-0D2C-0805DE863F24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E17AB9-6B9E-298C-740C-F1E242D6C286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315BC6-3C35-7581-480D-5F673783B39E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FB7BBB-2307-E4F3-31A1-398B42190546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FD0974-8A07-753C-A028-7E4F259A5663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1F6C2-40E2-E88F-8D80-E8CAE52CA819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501BFE-D889-911C-4FF6-DE0BF084EB67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Титульный слайд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567980" name="Title 1"/>
          <p:cNvSpPr>
            <a:spLocks noGrp="1"/>
          </p:cNvSpPr>
          <p:nvPr>
            <p:ph type="ctrTitle"/>
          </p:nvPr>
        </p:nvSpPr>
        <p:spPr bwMode="auto"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74227994" name="Subtitle 2"/>
          <p:cNvSpPr>
            <a:spLocks noGrp="1"/>
          </p:cNvSpPr>
          <p:nvPr>
            <p:ph type="subTitle" idx="1"/>
          </p:nvPr>
        </p:nvSpPr>
        <p:spPr bwMode="auto"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1221862062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752858" y="6453386"/>
            <a:ext cx="1607944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0182CC0-7576-4DBC-A383-03CB729E3741}" type="datetimeFigureOut">
              <a:rPr lang="ru-RU"/>
              <a:t>13.05.2025</a:t>
            </a:fld>
            <a:endParaRPr lang="ru-RU"/>
          </a:p>
        </p:txBody>
      </p:sp>
      <p:sp>
        <p:nvSpPr>
          <p:cNvPr id="1138935224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2584054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44869101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328D643-D204-4323-8445-14E75A213C1D}" type="slidenum">
              <a:rPr lang="ru-RU"/>
              <a:t>‹#›</a:t>
            </a:fld>
            <a:endParaRPr lang="ru-RU"/>
          </a:p>
        </p:txBody>
      </p:sp>
      <p:grpSp>
        <p:nvGrpSpPr>
          <p:cNvPr id="1830299508" name="Group 6"/>
          <p:cNvGrpSpPr/>
          <p:nvPr/>
        </p:nvGrpSpPr>
        <p:grpSpPr bwMode="auto"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 fill="norm" stroke="1" extrusionOk="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 fill="norm" stroke="1" extrusionOk="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50225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75187979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192758968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0182CC0-7576-4DBC-A383-03CB729E3741}" type="datetimeFigureOut">
              <a:rPr lang="ru-RU"/>
              <a:t>13.05.2025</a:t>
            </a:fld>
            <a:endParaRPr lang="ru-RU"/>
          </a:p>
        </p:txBody>
      </p:sp>
      <p:sp>
        <p:nvSpPr>
          <p:cNvPr id="10809413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2806948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328D643-D204-4323-8445-14E75A213C1D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secHead" userDrawn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0346154" name="Title 1"/>
          <p:cNvSpPr>
            <a:spLocks noGrp="1"/>
          </p:cNvSpPr>
          <p:nvPr>
            <p:ph type="title"/>
          </p:nvPr>
        </p:nvSpPr>
        <p:spPr bwMode="auto"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22674501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41377278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0182CC0-7576-4DBC-A383-03CB729E3741}" type="datetimeFigureOut">
              <a:rPr lang="ru-RU"/>
              <a:t>13.05.2025</a:t>
            </a:fld>
            <a:endParaRPr lang="ru-RU"/>
          </a:p>
        </p:txBody>
      </p:sp>
      <p:sp>
        <p:nvSpPr>
          <p:cNvPr id="189948007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8814672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328D643-D204-4323-8445-14E75A213C1D}" type="slidenum">
              <a:rPr lang="ru-RU"/>
              <a:t>‹#›</a:t>
            </a:fld>
            <a:endParaRPr lang="ru-RU"/>
          </a:p>
        </p:txBody>
      </p:sp>
      <p:sp>
        <p:nvSpPr>
          <p:cNvPr id="17230876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 fill="norm" stroke="1" extrusionOk="0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0485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83739738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371600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124645326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2970463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0182CC0-7576-4DBC-A383-03CB729E3741}" type="datetimeFigureOut">
              <a:rPr lang="ru-RU"/>
              <a:t>13.05.2025</a:t>
            </a:fld>
            <a:endParaRPr lang="ru-RU"/>
          </a:p>
        </p:txBody>
      </p:sp>
      <p:sp>
        <p:nvSpPr>
          <p:cNvPr id="165709871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3410273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328D643-D204-4323-8445-14E75A213C1D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877651" name="Title 1"/>
          <p:cNvSpPr>
            <a:spLocks noGrp="1"/>
          </p:cNvSpPr>
          <p:nvPr>
            <p:ph type="title"/>
          </p:nvPr>
        </p:nvSpPr>
        <p:spPr bwMode="auto"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52582153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7785546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371600" y="3305206"/>
            <a:ext cx="4443984" cy="256219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12830671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227916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525014" y="3305206"/>
            <a:ext cx="4443984" cy="256219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155964929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0182CC0-7576-4DBC-A383-03CB729E3741}" type="datetimeFigureOut">
              <a:rPr lang="ru-RU"/>
              <a:t>13.05.2025</a:t>
            </a:fld>
            <a:endParaRPr lang="ru-RU"/>
          </a:p>
        </p:txBody>
      </p:sp>
      <p:sp>
        <p:nvSpPr>
          <p:cNvPr id="93314759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352461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328D643-D204-4323-8445-14E75A213C1D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88427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81440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0182CC0-7576-4DBC-A383-03CB729E3741}" type="datetimeFigureOut">
              <a:rPr lang="ru-RU"/>
              <a:t>13.05.2025</a:t>
            </a:fld>
            <a:endParaRPr lang="ru-RU"/>
          </a:p>
        </p:txBody>
      </p:sp>
      <p:sp>
        <p:nvSpPr>
          <p:cNvPr id="194252467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79857996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328D643-D204-4323-8445-14E75A213C1D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95913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0182CC0-7576-4DBC-A383-03CB729E3741}" type="datetimeFigureOut">
              <a:rPr lang="ru-RU"/>
              <a:t>13.05.2025</a:t>
            </a:fld>
            <a:endParaRPr lang="ru-RU"/>
          </a:p>
        </p:txBody>
      </p:sp>
      <p:sp>
        <p:nvSpPr>
          <p:cNvPr id="161974698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1035988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328D643-D204-4323-8445-14E75A213C1D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3124835" name="Rectangle 7" title="Background Shape"/>
          <p:cNvSpPr/>
          <p:nvPr/>
        </p:nvSpPr>
        <p:spPr bwMode="auto"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0743077" name="Title 1"/>
          <p:cNvSpPr>
            <a:spLocks noGrp="1"/>
          </p:cNvSpPr>
          <p:nvPr>
            <p:ph type="title"/>
          </p:nvPr>
        </p:nvSpPr>
        <p:spPr bwMode="auto"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94865567" name="Content Placeholder 2"/>
          <p:cNvSpPr>
            <a:spLocks noGrp="1"/>
          </p:cNvSpPr>
          <p:nvPr>
            <p:ph idx="1"/>
          </p:nvPr>
        </p:nvSpPr>
        <p:spPr bwMode="auto"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201310594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2999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46727379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0182CC0-7576-4DBC-A383-03CB729E3741}" type="datetimeFigureOut">
              <a:rPr lang="ru-RU"/>
              <a:t>13.05.2025</a:t>
            </a:fld>
            <a:endParaRPr lang="ru-RU"/>
          </a:p>
        </p:txBody>
      </p:sp>
      <p:sp>
        <p:nvSpPr>
          <p:cNvPr id="751398334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23739165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328D643-D204-4323-8445-14E75A213C1D}" type="slidenum">
              <a:rPr lang="ru-RU"/>
              <a:t>‹#›</a:t>
            </a:fld>
            <a:endParaRPr lang="ru-RU"/>
          </a:p>
        </p:txBody>
      </p:sp>
      <p:sp>
        <p:nvSpPr>
          <p:cNvPr id="1658712730" name="Rectangle 8" title="Divider Bar"/>
          <p:cNvSpPr/>
          <p:nvPr/>
        </p:nvSpPr>
        <p:spPr bwMode="auto"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6692048" name="Rectangle 7" title="Background Shape"/>
          <p:cNvSpPr/>
          <p:nvPr/>
        </p:nvSpPr>
        <p:spPr bwMode="auto"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73090440" name="Title 1"/>
          <p:cNvSpPr>
            <a:spLocks noGrp="1"/>
          </p:cNvSpPr>
          <p:nvPr>
            <p:ph type="title"/>
          </p:nvPr>
        </p:nvSpPr>
        <p:spPr bwMode="auto"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855347699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66817562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2999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11585190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0182CC0-7576-4DBC-A383-03CB729E3741}" type="datetimeFigureOut">
              <a:rPr lang="ru-RU"/>
              <a:t>13.05.2025</a:t>
            </a:fld>
            <a:endParaRPr lang="ru-RU"/>
          </a:p>
        </p:txBody>
      </p:sp>
      <p:sp>
        <p:nvSpPr>
          <p:cNvPr id="921663740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6005389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328D643-D204-4323-8445-14E75A213C1D}" type="slidenum">
              <a:rPr lang="ru-RU"/>
              <a:t>‹#›</a:t>
            </a:fld>
            <a:endParaRPr lang="ru-RU"/>
          </a:p>
        </p:txBody>
      </p:sp>
      <p:sp>
        <p:nvSpPr>
          <p:cNvPr id="1156251963" name="Rectangle 8" title="Divider Bar"/>
          <p:cNvSpPr/>
          <p:nvPr/>
        </p:nvSpPr>
        <p:spPr bwMode="auto"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7181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206588907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1371600" y="2295525"/>
            <a:ext cx="9601200" cy="3571875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157529689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0182CC0-7576-4DBC-A383-03CB729E3741}" type="datetimeFigureOut">
              <a:rPr lang="ru-RU"/>
              <a:t>13.05.2025</a:t>
            </a:fld>
            <a:endParaRPr lang="ru-RU"/>
          </a:p>
        </p:txBody>
      </p:sp>
      <p:sp>
        <p:nvSpPr>
          <p:cNvPr id="192879604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327112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328D643-D204-4323-8445-14E75A213C1D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203642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9596561" y="624156"/>
            <a:ext cx="1565766" cy="5243244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97353666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1371600" y="624156"/>
            <a:ext cx="8179641" cy="5243244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195851840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0182CC0-7576-4DBC-A383-03CB729E3741}" type="datetimeFigureOut">
              <a:rPr lang="ru-RU"/>
              <a:t>13.05.2025</a:t>
            </a:fld>
            <a:endParaRPr lang="ru-RU"/>
          </a:p>
        </p:txBody>
      </p:sp>
      <p:sp>
        <p:nvSpPr>
          <p:cNvPr id="203854927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2841156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328D643-D204-4323-8445-14E75A213C1D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752016" name="Title Placeholder 1"/>
          <p:cNvSpPr>
            <a:spLocks noGrp="1"/>
          </p:cNvSpPr>
          <p:nvPr>
            <p:ph type="title"/>
          </p:nvPr>
        </p:nvSpPr>
        <p:spPr bwMode="auto"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2762082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62885911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0182CC0-7576-4DBC-A383-03CB729E3741}" type="datetimeFigureOut">
              <a:rPr lang="ru-RU"/>
              <a:t>13.05.2025</a:t>
            </a:fld>
            <a:endParaRPr lang="ru-RU"/>
          </a:p>
        </p:txBody>
      </p:sp>
      <p:sp>
        <p:nvSpPr>
          <p:cNvPr id="41142732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3554171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328D643-D204-4323-8445-14E75A213C1D}" type="slidenum">
              <a:rPr lang="ru-RU"/>
              <a:t>‹#›</a:t>
            </a:fld>
            <a:endParaRPr lang="ru-RU"/>
          </a:p>
        </p:txBody>
      </p:sp>
      <p:sp>
        <p:nvSpPr>
          <p:cNvPr id="1721199469" name="Rectangle 8" title="Side bar"/>
          <p:cNvSpPr/>
          <p:nvPr/>
        </p:nvSpPr>
        <p:spPr bwMode="auto"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89000"/>
        </a:lnSpc>
        <a:spcBef>
          <a:spcPts val="0"/>
        </a:spcBef>
        <a:buNone/>
        <a:defRPr sz="44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>
        <a:lnSpc>
          <a:spcPct val="94000"/>
        </a:lnSpc>
        <a:spcBef>
          <a:spcPts val="1000"/>
        </a:spcBef>
        <a:spcAft>
          <a:spcPts val="200"/>
        </a:spcAft>
        <a:buFont typeface="Franklin Gothic Book"/>
        <a:buChar char="■"/>
        <a:defRPr sz="200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2000" i="1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80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1800" i="1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60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1600" i="1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40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1400" i="1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4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966964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001858" y="765785"/>
            <a:ext cx="10349345" cy="1681739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600"/>
              <a:t>«Актуальная </a:t>
            </a:r>
            <a:r>
              <a:rPr lang="en-US" sz="3600"/>
              <a:t>BI-</a:t>
            </a:r>
            <a:r>
              <a:rPr lang="ru-RU" sz="3600"/>
              <a:t>система «</a:t>
            </a:r>
            <a:r>
              <a:rPr lang="en-US" sz="3600"/>
              <a:t>Yandex </a:t>
            </a:r>
            <a:r>
              <a:rPr lang="en-US" sz="3600"/>
              <a:t>DataLens</a:t>
            </a:r>
            <a:r>
              <a:rPr lang="ru-RU" sz="3600"/>
              <a:t>» для КИС </a:t>
            </a:r>
            <a:r>
              <a:rPr lang="ru-RU" sz="3600"/>
              <a:t>ТехноАрго</a:t>
            </a:r>
            <a:r>
              <a:rPr lang="ru-RU" sz="3600"/>
              <a:t> Плюс»</a:t>
            </a:r>
            <a:endParaRPr lang="ru-RU" sz="3600"/>
          </a:p>
        </p:txBody>
      </p:sp>
      <p:sp>
        <p:nvSpPr>
          <p:cNvPr id="866800651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2452255" y="3815862"/>
            <a:ext cx="8511020" cy="1876157"/>
          </a:xfrm>
        </p:spPr>
        <p:txBody>
          <a:bodyPr>
            <a:normAutofit fontScale="85000" lnSpcReduction="20000"/>
          </a:bodyPr>
          <a:lstStyle/>
          <a:p>
            <a:pPr algn="r">
              <a:defRPr/>
            </a:pPr>
            <a:r>
              <a:rPr lang="ru-RU"/>
              <a:t>Подготовили:</a:t>
            </a:r>
            <a:endParaRPr/>
          </a:p>
          <a:p>
            <a:pPr algn="r">
              <a:defRPr/>
            </a:pPr>
            <a:r>
              <a:rPr lang="ru-RU"/>
              <a:t>Студенты ИВБ-211</a:t>
            </a:r>
            <a:endParaRPr/>
          </a:p>
          <a:p>
            <a:pPr algn="r">
              <a:defRPr/>
            </a:pPr>
            <a:r>
              <a:rPr lang="ru-RU"/>
              <a:t>Ахмедов Х.А.</a:t>
            </a:r>
            <a:endParaRPr/>
          </a:p>
          <a:p>
            <a:pPr algn="r">
              <a:defRPr/>
            </a:pPr>
            <a:r>
              <a:rPr lang="ru-RU"/>
              <a:t>Кот Н.Д.</a:t>
            </a:r>
            <a:endParaRPr/>
          </a:p>
          <a:p>
            <a:pPr algn="r">
              <a:defRPr/>
            </a:pPr>
            <a:r>
              <a:rPr lang="ru-RU"/>
              <a:t>Егупов</a:t>
            </a:r>
            <a:r>
              <a:rPr lang="ru-RU"/>
              <a:t>  Н.М</a:t>
            </a:r>
            <a:r>
              <a:rPr lang="ru-RU"/>
              <a:t>.</a:t>
            </a:r>
            <a:endParaRPr/>
          </a:p>
          <a:p>
            <a:pPr algn="r">
              <a:defRPr/>
            </a:pPr>
            <a:r>
              <a:rPr lang="ru-RU"/>
              <a:t>Шефнер</a:t>
            </a:r>
            <a:r>
              <a:rPr lang="ru-RU"/>
              <a:t> А.</a:t>
            </a:r>
            <a:endParaRPr lang="ru-RU"/>
          </a:p>
        </p:txBody>
      </p:sp>
      <p:pic>
        <p:nvPicPr>
          <p:cNvPr id="2018933391" name="Picture 2" descr="Техно-Агро Сельхозтехника, Запасные части | Товар/услуга ООО «Техно-Агро» -  дилер QUIVOGNE, SaMASZ, SUKOV, AGRO-MASZ, EXPOM. 2025 | ВКонтакте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3974633" y="2991875"/>
            <a:ext cx="4403794" cy="1761517"/>
          </a:xfrm>
          <a:prstGeom prst="rect">
            <a:avLst/>
          </a:prstGeom>
          <a:noFill/>
        </p:spPr>
      </p:pic>
      <p:pic>
        <p:nvPicPr>
          <p:cNvPr id="1010893068" name="Рисунок 5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417926" y="2838305"/>
            <a:ext cx="2068657" cy="2068657"/>
          </a:xfrm>
          <a:prstGeom prst="rect">
            <a:avLst/>
          </a:prstGeom>
          <a:noFill/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dk1"/>
          </a:fontRef>
        </p:style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88200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0"/>
            <a:ext cx="10515600" cy="1325563"/>
          </a:xfrm>
        </p:spPr>
        <p:txBody>
          <a:bodyPr/>
          <a:lstStyle/>
          <a:p>
            <a:pPr algn="ctr">
              <a:defRPr/>
            </a:pPr>
            <a:r>
              <a:rPr lang="ru-RU"/>
              <a:t>Введение</a:t>
            </a:r>
            <a:endParaRPr/>
          </a:p>
        </p:txBody>
      </p:sp>
      <p:sp>
        <p:nvSpPr>
          <p:cNvPr id="33383173" name="Объект 2"/>
          <p:cNvSpPr>
            <a:spLocks noGrp="1"/>
          </p:cNvSpPr>
          <p:nvPr>
            <p:ph idx="1"/>
          </p:nvPr>
        </p:nvSpPr>
        <p:spPr bwMode="auto">
          <a:xfrm>
            <a:off x="997527" y="1486189"/>
            <a:ext cx="10515600" cy="435133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b="1" i="0">
                <a:latin typeface="system-ui"/>
              </a:rPr>
              <a:t>Yandex </a:t>
            </a:r>
            <a:r>
              <a:rPr lang="ru-RU" b="1" i="0">
                <a:latin typeface="system-ui"/>
              </a:rPr>
              <a:t>DataLens</a:t>
            </a:r>
            <a:r>
              <a:rPr lang="ru-RU" b="1" i="0">
                <a:latin typeface="system-ui"/>
              </a:rPr>
              <a:t> </a:t>
            </a:r>
            <a:r>
              <a:rPr lang="ru-RU" b="0" i="0">
                <a:solidFill>
                  <a:srgbClr val="2C2C36"/>
                </a:solidFill>
                <a:latin typeface="system-ui"/>
              </a:rPr>
              <a:t>— это облачный сервис для визуализации данных и создания аналитических отчетов. Он позволяет подключаться к различным источникам данных, создавать </a:t>
            </a:r>
            <a:r>
              <a:rPr lang="ru-RU" b="0" i="0">
                <a:solidFill>
                  <a:srgbClr val="2C2C36"/>
                </a:solidFill>
                <a:latin typeface="system-ui"/>
              </a:rPr>
              <a:t>дашборды</a:t>
            </a:r>
            <a:r>
              <a:rPr lang="ru-RU" b="0" i="0">
                <a:solidFill>
                  <a:srgbClr val="2C2C36"/>
                </a:solidFill>
                <a:latin typeface="system-ui"/>
              </a:rPr>
              <a:t>, проводить анализ и поддерживать принятие управленческих решений.</a:t>
            </a:r>
            <a:endParaRPr lang="ru-RU"/>
          </a:p>
        </p:txBody>
      </p:sp>
      <p:pic>
        <p:nvPicPr>
          <p:cNvPr id="1766883421" name="Рисунок 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771774" y="2708737"/>
            <a:ext cx="6358621" cy="3682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504264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88034"/>
            <a:ext cx="10515600" cy="1325563"/>
          </a:xfrm>
        </p:spPr>
        <p:txBody>
          <a:bodyPr/>
          <a:lstStyle/>
          <a:p>
            <a:pPr algn="ctr">
              <a:defRPr/>
            </a:pPr>
            <a:r>
              <a:rPr lang="ru-RU"/>
              <a:t>Основные характеристики</a:t>
            </a:r>
            <a:endParaRPr/>
          </a:p>
        </p:txBody>
      </p:sp>
      <p:sp>
        <p:nvSpPr>
          <p:cNvPr id="1461133402" name="Объект 2"/>
          <p:cNvSpPr>
            <a:spLocks noGrp="1"/>
          </p:cNvSpPr>
          <p:nvPr>
            <p:ph idx="1"/>
          </p:nvPr>
        </p:nvSpPr>
        <p:spPr bwMode="auto">
          <a:xfrm>
            <a:off x="838200" y="1043781"/>
            <a:ext cx="10515600" cy="4351338"/>
          </a:xfrm>
        </p:spPr>
        <p:txBody>
          <a:bodyPr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  <a:defRPr/>
            </a:pPr>
            <a:r>
              <a:rPr lang="ru-RU" b="0" i="0">
                <a:solidFill>
                  <a:srgbClr val="2C2C36"/>
                </a:solidFill>
                <a:latin typeface="system-ui"/>
              </a:rPr>
              <a:t>Визуализация данных:</a:t>
            </a:r>
            <a:endParaRPr/>
          </a:p>
          <a:p>
            <a:pPr lvl="1">
              <a:spcBef>
                <a:spcPts val="900"/>
              </a:spcBef>
              <a:spcAft>
                <a:spcPts val="900"/>
              </a:spcAft>
              <a:defRPr/>
            </a:pPr>
            <a:r>
              <a:rPr lang="ru-RU" b="0" i="0">
                <a:solidFill>
                  <a:srgbClr val="2C2C36"/>
                </a:solidFill>
                <a:latin typeface="system-ui"/>
              </a:rPr>
              <a:t>Широкий выбор типов диаграмм (графики, столбчатые диаграммы, тепловые </a:t>
            </a:r>
            <a:r>
              <a:rPr lang="ru-RU" b="0" i="0">
                <a:solidFill>
                  <a:srgbClr val="2C2C36"/>
                </a:solidFill>
                <a:latin typeface="system-ui"/>
              </a:rPr>
              <a:t>карты</a:t>
            </a:r>
            <a:r>
              <a:rPr lang="en-US" b="0" i="0">
                <a:solidFill>
                  <a:srgbClr val="2C2C36"/>
                </a:solidFill>
                <a:latin typeface="system-ui"/>
              </a:rPr>
              <a:t> </a:t>
            </a:r>
            <a:r>
              <a:rPr lang="ru-RU" b="0" i="0">
                <a:solidFill>
                  <a:srgbClr val="2C2C36"/>
                </a:solidFill>
                <a:latin typeface="system-ui"/>
              </a:rPr>
              <a:t>круговые диаграммы, древовидная диаграмма и т.д</a:t>
            </a:r>
            <a:r>
              <a:rPr lang="ru-RU" b="0" i="0">
                <a:solidFill>
                  <a:srgbClr val="2C2C36"/>
                </a:solidFill>
                <a:latin typeface="system-ui"/>
              </a:rPr>
              <a:t>.).</a:t>
            </a:r>
            <a:endParaRPr/>
          </a:p>
          <a:p>
            <a:pPr lvl="1">
              <a:spcBef>
                <a:spcPts val="900"/>
              </a:spcBef>
              <a:spcAft>
                <a:spcPts val="900"/>
              </a:spcAft>
              <a:defRPr/>
            </a:pPr>
            <a:r>
              <a:rPr lang="ru-RU" b="0" i="0">
                <a:solidFill>
                  <a:srgbClr val="2C2C36"/>
                </a:solidFill>
                <a:latin typeface="system-ui"/>
              </a:rPr>
              <a:t>Интерактивные </a:t>
            </a:r>
            <a:r>
              <a:rPr lang="ru-RU" b="0" i="0">
                <a:solidFill>
                  <a:srgbClr val="2C2C36"/>
                </a:solidFill>
                <a:latin typeface="system-ui"/>
              </a:rPr>
              <a:t>дашборды</a:t>
            </a:r>
            <a:r>
              <a:rPr lang="ru-RU" b="0" i="0">
                <a:solidFill>
                  <a:srgbClr val="2C2C36"/>
                </a:solidFill>
                <a:latin typeface="system-ui"/>
              </a:rPr>
              <a:t> с фильтрами и динамическими параметрами.</a:t>
            </a:r>
            <a:endParaRPr/>
          </a:p>
          <a:p>
            <a:pPr>
              <a:defRPr/>
            </a:pPr>
            <a:endParaRPr lang="ru-RU"/>
          </a:p>
        </p:txBody>
      </p:sp>
      <p:pic>
        <p:nvPicPr>
          <p:cNvPr id="2047730356" name="Рисунок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303408" y="3494860"/>
            <a:ext cx="3527543" cy="2522935"/>
          </a:xfrm>
          <a:prstGeom prst="rect">
            <a:avLst/>
          </a:prstGeom>
        </p:spPr>
      </p:pic>
      <p:pic>
        <p:nvPicPr>
          <p:cNvPr id="1628764171" name="Рисунок 5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565365" y="3491330"/>
            <a:ext cx="3479327" cy="2540866"/>
          </a:xfrm>
          <a:prstGeom prst="rect">
            <a:avLst/>
          </a:prstGeom>
        </p:spPr>
      </p:pic>
      <p:pic>
        <p:nvPicPr>
          <p:cNvPr id="2082372035" name="Рисунок 7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838200" y="3491330"/>
            <a:ext cx="3468449" cy="25264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8380997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88034"/>
            <a:ext cx="10515600" cy="1325563"/>
          </a:xfrm>
        </p:spPr>
        <p:txBody>
          <a:bodyPr/>
          <a:lstStyle/>
          <a:p>
            <a:pPr algn="ctr">
              <a:defRPr/>
            </a:pPr>
            <a:r>
              <a:rPr lang="ru-RU"/>
              <a:t>Пример – </a:t>
            </a:r>
            <a:r>
              <a:rPr lang="en-US"/>
              <a:t>DataLens</a:t>
            </a:r>
            <a:r>
              <a:rPr lang="en-US"/>
              <a:t> Demo </a:t>
            </a:r>
            <a:r>
              <a:rPr lang="en-US"/>
              <a:t>DashBoard</a:t>
            </a:r>
            <a:endParaRPr lang="ru-RU"/>
          </a:p>
        </p:txBody>
      </p:sp>
      <p:pic>
        <p:nvPicPr>
          <p:cNvPr id="566954364" name="Рисунок 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38200" y="1438318"/>
            <a:ext cx="10585786" cy="3728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6212735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88034"/>
            <a:ext cx="10515600" cy="1325563"/>
          </a:xfrm>
        </p:spPr>
        <p:txBody>
          <a:bodyPr/>
          <a:lstStyle/>
          <a:p>
            <a:pPr algn="ctr">
              <a:defRPr/>
            </a:pPr>
            <a:r>
              <a:rPr lang="ru-RU"/>
              <a:t>Основные характеристики</a:t>
            </a:r>
            <a:endParaRPr/>
          </a:p>
        </p:txBody>
      </p:sp>
      <p:sp>
        <p:nvSpPr>
          <p:cNvPr id="1348243973" name="Объект 2"/>
          <p:cNvSpPr>
            <a:spLocks noGrp="1"/>
          </p:cNvSpPr>
          <p:nvPr>
            <p:ph idx="1"/>
          </p:nvPr>
        </p:nvSpPr>
        <p:spPr bwMode="auto">
          <a:xfrm>
            <a:off x="838200" y="1054282"/>
            <a:ext cx="10515600" cy="4351338"/>
          </a:xfrm>
        </p:spPr>
        <p:txBody>
          <a:bodyPr/>
          <a:lstStyle/>
          <a:p>
            <a:pPr marL="0" indent="0">
              <a:spcBef>
                <a:spcPts val="900"/>
              </a:spcBef>
              <a:spcAft>
                <a:spcPts val="900"/>
              </a:spcAft>
              <a:buNone/>
              <a:defRPr/>
            </a:pPr>
            <a:r>
              <a:rPr lang="ru-RU" sz="2800" b="1">
                <a:solidFill>
                  <a:srgbClr val="2C2C36"/>
                </a:solidFill>
                <a:latin typeface="system-ui"/>
              </a:rPr>
              <a:t>Интеграция с источниками данных включает в себя</a:t>
            </a:r>
            <a:r>
              <a:rPr lang="ru-RU" sz="2800" b="1">
                <a:solidFill>
                  <a:srgbClr val="2C2C36"/>
                </a:solidFill>
                <a:latin typeface="system-ui"/>
              </a:rPr>
              <a:t>:</a:t>
            </a:r>
            <a:endParaRPr lang="ru-RU" sz="2800" b="1">
              <a:solidFill>
                <a:srgbClr val="2C2C36"/>
              </a:solidFill>
              <a:latin typeface="system-ui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defRPr/>
            </a:pPr>
            <a:r>
              <a:rPr lang="ru-RU" sz="2400"/>
              <a:t>Возможность подключения к популярным СУБД, таким как </a:t>
            </a:r>
            <a:r>
              <a:rPr lang="ru-RU" sz="2400"/>
              <a:t>ClickHouse</a:t>
            </a:r>
            <a:r>
              <a:rPr lang="ru-RU" sz="2400"/>
              <a:t>, </a:t>
            </a:r>
            <a:r>
              <a:rPr lang="ru-RU" sz="2400"/>
              <a:t>PostgreSQL</a:t>
            </a:r>
            <a:r>
              <a:rPr lang="ru-RU" sz="2400"/>
              <a:t>, </a:t>
            </a:r>
            <a:r>
              <a:rPr lang="ru-RU" sz="2400"/>
              <a:t>MySQL</a:t>
            </a:r>
            <a:r>
              <a:rPr lang="ru-RU" sz="2400"/>
              <a:t> и другим.</a:t>
            </a:r>
            <a:endParaRPr/>
          </a:p>
          <a:p>
            <a:pPr>
              <a:spcBef>
                <a:spcPts val="900"/>
              </a:spcBef>
              <a:spcAft>
                <a:spcPts val="900"/>
              </a:spcAft>
              <a:defRPr/>
            </a:pPr>
            <a:r>
              <a:rPr lang="ru-RU" sz="2400"/>
              <a:t>Экспорт данных из форматов </a:t>
            </a:r>
            <a:r>
              <a:rPr lang="ru-RU" sz="2400"/>
              <a:t>Excel</a:t>
            </a:r>
            <a:r>
              <a:rPr lang="ru-RU" sz="2400"/>
              <a:t>, CSV и других.</a:t>
            </a:r>
            <a:endParaRPr/>
          </a:p>
          <a:p>
            <a:pPr>
              <a:spcBef>
                <a:spcPts val="900"/>
              </a:spcBef>
              <a:spcAft>
                <a:spcPts val="900"/>
              </a:spcAft>
              <a:defRPr/>
            </a:pPr>
            <a:r>
              <a:rPr lang="ru-RU" sz="2400"/>
              <a:t>Поддержка выполнения SQL-запросов для работы с базами данных.</a:t>
            </a:r>
            <a:endParaRPr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986360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88035"/>
            <a:ext cx="10515600" cy="1065636"/>
          </a:xfrm>
        </p:spPr>
        <p:txBody>
          <a:bodyPr/>
          <a:lstStyle/>
          <a:p>
            <a:pPr algn="ctr">
              <a:defRPr/>
            </a:pPr>
            <a:r>
              <a:rPr lang="ru-RU"/>
              <a:t>Пример – </a:t>
            </a:r>
            <a:r>
              <a:rPr lang="en-US"/>
              <a:t>DataLens</a:t>
            </a:r>
            <a:r>
              <a:rPr lang="en-US"/>
              <a:t> Demo </a:t>
            </a:r>
            <a:r>
              <a:rPr lang="en-US"/>
              <a:t>DashBoard</a:t>
            </a:r>
            <a:endParaRPr lang="ru-RU"/>
          </a:p>
        </p:txBody>
      </p:sp>
      <p:sp>
        <p:nvSpPr>
          <p:cNvPr id="1543422201" name="AutoShape 6" descr="Скриншот описания SQL на уровне чарта"/>
          <p:cNvSpPr>
            <a:spLocks noChangeArrowheads="1" noChangeAspect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ru-RU"/>
          </a:p>
        </p:txBody>
      </p:sp>
      <p:pic>
        <p:nvPicPr>
          <p:cNvPr id="1817521538" name="Рисунок 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89259" y="904491"/>
            <a:ext cx="9964541" cy="55062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8906559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88034"/>
            <a:ext cx="10515600" cy="1325563"/>
          </a:xfrm>
        </p:spPr>
        <p:txBody>
          <a:bodyPr/>
          <a:lstStyle/>
          <a:p>
            <a:pPr algn="ctr">
              <a:defRPr/>
            </a:pPr>
            <a:r>
              <a:rPr lang="ru-RU"/>
              <a:t>Основные характеристики</a:t>
            </a:r>
            <a:endParaRPr/>
          </a:p>
        </p:txBody>
      </p:sp>
      <p:sp>
        <p:nvSpPr>
          <p:cNvPr id="303450110" name="Объект 2"/>
          <p:cNvSpPr>
            <a:spLocks noGrp="1"/>
          </p:cNvSpPr>
          <p:nvPr>
            <p:ph idx="1"/>
          </p:nvPr>
        </p:nvSpPr>
        <p:spPr bwMode="auto">
          <a:xfrm>
            <a:off x="838200" y="1042121"/>
            <a:ext cx="10515600" cy="4968153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b="1"/>
              <a:t>Масштабируемость</a:t>
            </a:r>
            <a:endParaRPr lang="ru-RU"/>
          </a:p>
          <a:p>
            <a:pPr>
              <a:defRPr/>
            </a:pPr>
            <a:r>
              <a:rPr lang="ru-RU"/>
              <a:t>Облачная архитектура обеспечивает обработку больших данных.</a:t>
            </a:r>
            <a:endParaRPr/>
          </a:p>
          <a:p>
            <a:pPr>
              <a:defRPr/>
            </a:pPr>
            <a:r>
              <a:rPr lang="ru-RU"/>
              <a:t>Подходит для компаний с крупными массивами информации (например, данные студентов, курсов и платежей).</a:t>
            </a:r>
            <a:endParaRPr/>
          </a:p>
          <a:p>
            <a:pPr marL="0" indent="0">
              <a:buNone/>
              <a:defRPr/>
            </a:pPr>
            <a:r>
              <a:rPr lang="ru-RU" b="1"/>
              <a:t>П</a:t>
            </a:r>
            <a:r>
              <a:rPr lang="ru-RU" b="1"/>
              <a:t>ользовательский </a:t>
            </a:r>
            <a:r>
              <a:rPr lang="ru-RU" b="1"/>
              <a:t>интерфейс</a:t>
            </a:r>
            <a:endParaRPr lang="ru-RU"/>
          </a:p>
          <a:p>
            <a:pPr>
              <a:defRPr/>
            </a:pPr>
            <a:r>
              <a:rPr lang="ru-RU"/>
              <a:t>Простой и интуитивный интерфейс для аналитиков и менеджеров.</a:t>
            </a:r>
            <a:endParaRPr/>
          </a:p>
          <a:p>
            <a:pPr>
              <a:defRPr/>
            </a:pPr>
            <a:r>
              <a:rPr lang="ru-RU"/>
              <a:t>Создание базовых отчетов без необходимости глубоких технических знаний.</a:t>
            </a:r>
            <a:endParaRPr/>
          </a:p>
          <a:p>
            <a:pPr marL="0" indent="0">
              <a:buNone/>
              <a:defRPr/>
            </a:pPr>
            <a:r>
              <a:rPr lang="ru-RU" b="1"/>
              <a:t>Безопасность</a:t>
            </a:r>
            <a:endParaRPr lang="ru-RU"/>
          </a:p>
          <a:p>
            <a:pPr>
              <a:defRPr/>
            </a:pPr>
            <a:r>
              <a:rPr lang="ru-RU"/>
              <a:t>Встроенные механизмы защиты данных.</a:t>
            </a:r>
            <a:endParaRPr/>
          </a:p>
          <a:p>
            <a:pPr>
              <a:defRPr/>
            </a:pPr>
            <a:r>
              <a:rPr lang="ru-RU"/>
              <a:t>Гибкое управление правами доступа для разных пользователей.</a:t>
            </a:r>
            <a:endParaRPr/>
          </a:p>
          <a:p>
            <a:pPr marL="0" indent="0">
              <a:buNone/>
              <a:defRPr/>
            </a:pPr>
            <a:endParaRPr lang="ru-RU" b="0" i="0">
              <a:solidFill>
                <a:srgbClr val="2C2C36"/>
              </a:solidFill>
              <a:latin typeface="system-ui"/>
            </a:endParaRPr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3159807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88034"/>
            <a:ext cx="10515600" cy="1325563"/>
          </a:xfrm>
        </p:spPr>
        <p:txBody>
          <a:bodyPr/>
          <a:lstStyle/>
          <a:p>
            <a:pPr algn="ctr">
              <a:defRPr/>
            </a:pPr>
            <a:r>
              <a:rPr lang="ru-RU"/>
              <a:t>Почему </a:t>
            </a:r>
            <a:r>
              <a:rPr lang="ru-RU"/>
              <a:t>Yandex</a:t>
            </a:r>
            <a:r>
              <a:rPr lang="ru-RU"/>
              <a:t> </a:t>
            </a:r>
            <a:r>
              <a:rPr lang="ru-RU"/>
              <a:t>DataLens</a:t>
            </a:r>
            <a:r>
              <a:rPr lang="ru-RU"/>
              <a:t> полезен для «</a:t>
            </a:r>
            <a:r>
              <a:rPr lang="ru-RU"/>
              <a:t>ТехноАгро</a:t>
            </a:r>
            <a:r>
              <a:rPr lang="ru-RU"/>
              <a:t> Плюс»?</a:t>
            </a:r>
            <a:endParaRPr/>
          </a:p>
        </p:txBody>
      </p:sp>
      <p:sp>
        <p:nvSpPr>
          <p:cNvPr id="2100432446" name="Объект 2"/>
          <p:cNvSpPr>
            <a:spLocks noGrp="1"/>
          </p:cNvSpPr>
          <p:nvPr>
            <p:ph idx="1"/>
          </p:nvPr>
        </p:nvSpPr>
        <p:spPr bwMode="auto">
          <a:xfrm>
            <a:off x="838200" y="1465407"/>
            <a:ext cx="10515600" cy="337329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b="1"/>
              <a:t>1</a:t>
            </a:r>
            <a:r>
              <a:rPr lang="ru-RU" b="1"/>
              <a:t>. Анализ продаж и дистрибуции</a:t>
            </a:r>
            <a:br>
              <a:rPr lang="ru-RU"/>
            </a:br>
            <a:r>
              <a:rPr lang="ru-RU"/>
              <a:t>– Отслеживание динамики продаж по регионам, дилерам и моделям техники.</a:t>
            </a:r>
            <a:br>
              <a:rPr lang="ru-RU"/>
            </a:br>
            <a:r>
              <a:rPr lang="ru-RU"/>
              <a:t>– Визуализация данных о спросе для оптимизации складских запасов.</a:t>
            </a:r>
            <a:endParaRPr/>
          </a:p>
          <a:p>
            <a:pPr>
              <a:defRPr/>
            </a:pPr>
            <a:r>
              <a:rPr lang="ru-RU" b="1"/>
              <a:t>2. Контроль сервисного обслуживания</a:t>
            </a:r>
            <a:br>
              <a:rPr lang="ru-RU"/>
            </a:br>
            <a:r>
              <a:rPr lang="ru-RU"/>
              <a:t>– Мониторинг обращений в сервисные центры (среднее время ремонта, частота поломок).</a:t>
            </a:r>
            <a:br>
              <a:rPr lang="ru-RU"/>
            </a:br>
            <a:r>
              <a:rPr lang="ru-RU"/>
              <a:t>– Интеграция с CRM для анализа лояльности клиентов.</a:t>
            </a:r>
            <a:endParaRPr/>
          </a:p>
          <a:p>
            <a:pPr>
              <a:defRPr/>
            </a:pPr>
            <a:r>
              <a:rPr lang="ru-RU" b="1"/>
              <a:t>3. Удобство для команд</a:t>
            </a:r>
            <a:br>
              <a:rPr lang="ru-RU"/>
            </a:br>
            <a:r>
              <a:rPr lang="ru-RU"/>
              <a:t>– Облачная платформа: доступ к отчетам для удаленных сотрудников и дилеров.</a:t>
            </a:r>
            <a:br>
              <a:rPr lang="ru-RU"/>
            </a:br>
            <a:r>
              <a:rPr lang="ru-RU"/>
              <a:t>– Готовые шаблоны </a:t>
            </a:r>
            <a:r>
              <a:rPr lang="ru-RU"/>
              <a:t>дашбордов</a:t>
            </a:r>
            <a:r>
              <a:rPr lang="ru-RU"/>
              <a:t> для финансовых и операционных показателей.</a:t>
            </a:r>
            <a:endParaRPr/>
          </a:p>
          <a:p>
            <a:pPr marL="0" indent="0">
              <a:buNone/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739104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ru-RU"/>
              <a:t>Система ключевых показателей (KPI) для онлайн-школы</a:t>
            </a:r>
            <a:endParaRPr/>
          </a:p>
        </p:txBody>
      </p:sp>
      <p:sp>
        <p:nvSpPr>
          <p:cNvPr id="1521784823" name="Объект 2"/>
          <p:cNvSpPr>
            <a:spLocks noGrp="1"/>
          </p:cNvSpPr>
          <p:nvPr>
            <p:ph idx="1"/>
          </p:nvPr>
        </p:nvSpPr>
        <p:spPr bwMode="auto">
          <a:xfrm>
            <a:off x="1085850" y="1922174"/>
            <a:ext cx="5210175" cy="4438651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b="1"/>
              <a:t>Продажи </a:t>
            </a:r>
            <a:r>
              <a:rPr lang="ru-RU" b="1"/>
              <a:t>и дистрибуция</a:t>
            </a:r>
            <a:endParaRPr lang="ru-RU"/>
          </a:p>
          <a:p>
            <a:pPr>
              <a:defRPr/>
            </a:pPr>
            <a:r>
              <a:rPr lang="ru-RU"/>
              <a:t>Объем продаж по регионам и дилерам</a:t>
            </a:r>
            <a:endParaRPr/>
          </a:p>
          <a:p>
            <a:pPr>
              <a:defRPr/>
            </a:pPr>
            <a:r>
              <a:rPr lang="ru-RU"/>
              <a:t>Конверсия входящих заявок в продажи</a:t>
            </a:r>
            <a:endParaRPr/>
          </a:p>
          <a:p>
            <a:pPr>
              <a:defRPr/>
            </a:pPr>
            <a:r>
              <a:rPr lang="ru-RU"/>
              <a:t>Рентабельность разных линеек техники</a:t>
            </a:r>
            <a:endParaRPr/>
          </a:p>
          <a:p>
            <a:pPr marL="0" indent="0">
              <a:buNone/>
              <a:defRPr/>
            </a:pPr>
            <a:r>
              <a:rPr lang="ru-RU" b="1"/>
              <a:t>Производство </a:t>
            </a:r>
            <a:r>
              <a:rPr lang="ru-RU" b="1"/>
              <a:t>и логистика</a:t>
            </a:r>
            <a:endParaRPr lang="ru-RU"/>
          </a:p>
          <a:p>
            <a:pPr>
              <a:defRPr/>
            </a:pPr>
            <a:r>
              <a:rPr lang="ru-RU"/>
              <a:t>Производственная себестоимость единицы техники</a:t>
            </a:r>
            <a:endParaRPr/>
          </a:p>
          <a:p>
            <a:pPr>
              <a:defRPr/>
            </a:pPr>
            <a:r>
              <a:rPr lang="ru-RU"/>
              <a:t>Сроки выполнения заказов</a:t>
            </a:r>
            <a:endParaRPr/>
          </a:p>
          <a:p>
            <a:pPr>
              <a:defRPr/>
            </a:pPr>
            <a:r>
              <a:rPr lang="ru-RU"/>
              <a:t>Уровень загрузки производственных мощностей</a:t>
            </a:r>
            <a:endParaRPr/>
          </a:p>
          <a:p>
            <a:pPr marL="0" indent="0">
              <a:buNone/>
              <a:defRPr/>
            </a:pPr>
            <a:endParaRPr lang="ru-RU"/>
          </a:p>
        </p:txBody>
      </p:sp>
      <p:pic>
        <p:nvPicPr>
          <p:cNvPr id="2058251765" name="Рисунок 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296024" y="2507023"/>
            <a:ext cx="5776642" cy="32689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9623783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 algn="ctr">
              <a:defRPr/>
            </a:pPr>
            <a:r>
              <a:rPr lang="ru-RU"/>
              <a:t>Система ключевых показателей (KPI) для онлайн-школы</a:t>
            </a:r>
            <a:endParaRPr/>
          </a:p>
        </p:txBody>
      </p:sp>
      <p:sp>
        <p:nvSpPr>
          <p:cNvPr id="1623818064" name="Объект 8"/>
          <p:cNvSpPr>
            <a:spLocks noGrp="1"/>
          </p:cNvSpPr>
          <p:nvPr>
            <p:ph sz="half" idx="1"/>
          </p:nvPr>
        </p:nvSpPr>
        <p:spPr bwMode="auto">
          <a:xfrm>
            <a:off x="1276739" y="1990560"/>
            <a:ext cx="4447786" cy="3581401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ru-RU" b="1"/>
              <a:t>Сервис </a:t>
            </a:r>
            <a:r>
              <a:rPr lang="ru-RU" b="1"/>
              <a:t>и клиентский опыт</a:t>
            </a:r>
            <a:endParaRPr lang="ru-RU"/>
          </a:p>
          <a:p>
            <a:pPr>
              <a:defRPr/>
            </a:pPr>
            <a:r>
              <a:rPr lang="ru-RU"/>
              <a:t>Среднее время ремонта техники</a:t>
            </a:r>
            <a:endParaRPr/>
          </a:p>
          <a:p>
            <a:pPr>
              <a:defRPr/>
            </a:pPr>
            <a:r>
              <a:rPr lang="ru-RU"/>
              <a:t>Процент гарантийных случаев</a:t>
            </a:r>
            <a:endParaRPr/>
          </a:p>
          <a:p>
            <a:pPr>
              <a:defRPr/>
            </a:pPr>
            <a:r>
              <a:rPr lang="ru-RU"/>
              <a:t>Индекс удовлетворенности клиентов (NPS)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1697464387" name="Объект 9"/>
          <p:cNvSpPr>
            <a:spLocks noGrp="1"/>
          </p:cNvSpPr>
          <p:nvPr>
            <p:ph sz="half" idx="2"/>
          </p:nvPr>
        </p:nvSpPr>
        <p:spPr bwMode="auto">
          <a:xfrm>
            <a:off x="6497540" y="1990560"/>
            <a:ext cx="5248275" cy="2247901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ru-RU" b="1"/>
              <a:t>Финансовая эффективность</a:t>
            </a:r>
            <a:endParaRPr lang="ru-RU"/>
          </a:p>
          <a:p>
            <a:pPr>
              <a:defRPr/>
            </a:pPr>
            <a:r>
              <a:rPr lang="ru-RU"/>
              <a:t>Оборачиваемость товарных запасов</a:t>
            </a:r>
            <a:endParaRPr/>
          </a:p>
          <a:p>
            <a:pPr>
              <a:defRPr/>
            </a:pPr>
            <a:r>
              <a:rPr lang="ru-RU"/>
              <a:t>Маржинальность</a:t>
            </a:r>
            <a:r>
              <a:rPr lang="ru-RU"/>
              <a:t> по категориям продукции</a:t>
            </a:r>
            <a:endParaRPr/>
          </a:p>
          <a:p>
            <a:pPr>
              <a:defRPr/>
            </a:pPr>
            <a:r>
              <a:rPr lang="ru-RU"/>
              <a:t>Доля сервисного дохода в общей выручке</a:t>
            </a:r>
            <a:endParaRPr/>
          </a:p>
        </p:txBody>
      </p:sp>
      <p:pic>
        <p:nvPicPr>
          <p:cNvPr id="408730931" name="Рисунок 1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66800" y="4105111"/>
            <a:ext cx="10679015" cy="23434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27119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ru-RU"/>
              <a:t>Заключение</a:t>
            </a:r>
            <a:endParaRPr/>
          </a:p>
        </p:txBody>
      </p:sp>
      <p:sp>
        <p:nvSpPr>
          <p:cNvPr id="2135586466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 b="1" i="0">
                <a:solidFill>
                  <a:srgbClr val="2C2C36"/>
                </a:solidFill>
                <a:latin typeface="system-ui"/>
              </a:rPr>
              <a:t>Yandex </a:t>
            </a:r>
            <a:r>
              <a:rPr lang="ru-RU" b="1" i="0">
                <a:solidFill>
                  <a:srgbClr val="2C2C36"/>
                </a:solidFill>
                <a:latin typeface="system-ui"/>
              </a:rPr>
              <a:t>DataLens</a:t>
            </a:r>
            <a:r>
              <a:rPr lang="ru-RU" b="1" i="0">
                <a:solidFill>
                  <a:srgbClr val="2C2C36"/>
                </a:solidFill>
                <a:latin typeface="system-ui"/>
              </a:rPr>
              <a:t> </a:t>
            </a:r>
            <a:r>
              <a:rPr lang="ru-RU" b="0" i="0">
                <a:solidFill>
                  <a:srgbClr val="2C2C36"/>
                </a:solidFill>
                <a:latin typeface="system-ui"/>
              </a:rPr>
              <a:t>— это мощный инструмент для анализа данных в онлайн-школе. Он позволяет создавать гибкие и информативные отчеты, которые помогают принимать управленческие решения. Предложенные KPI обеспечивают комплексный анализ работы школы, что способствует её развитию и повышению эффективности.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/>
        <a:ea typeface="Arial"/>
        <a:cs typeface="Arial"/>
      </a:majorFont>
      <a:minorFont>
        <a:latin typeface="Franklin Gothic Book"/>
        <a:ea typeface="Arial"/>
        <a:cs typeface="Arial"/>
      </a:minorFont>
    </a:fontScheme>
    <a:fmtScheme name="Crop">
      <a:fillStyleLst>
        <a:solidFill>
          <a:schemeClr val="phClr"/>
        </a:solidFill>
        <a:gradFill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">
      <a:majorFont>
        <a:latin typeface="Franklin Gothic Book"/>
        <a:ea typeface="Arial"/>
        <a:cs typeface="Arial"/>
      </a:majorFont>
      <a:minorFont>
        <a:latin typeface="Franklin Gothic Book"/>
        <a:ea typeface="Arial"/>
        <a:cs typeface="Arial"/>
      </a:minorFont>
    </a:fontScheme>
    <a:fmtScheme name="Crop">
      <a:fillStyleLst>
        <a:solidFill>
          <a:schemeClr val="phClr"/>
        </a:solidFill>
        <a:gradFill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0</TotalTime>
  <Words>0</Words>
  <Application>ONLYOFFICE/8.3.3.21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«Актуальная BI-система «Yandex DataLens» для КИС ТехноАрго Плюс»</dc:title>
  <dc:creator>Young Soul</dc:creator>
  <cp:lastModifiedBy/>
  <cp:revision>11</cp:revision>
  <dcterms:created xsi:type="dcterms:W3CDTF">2025-04-06T13:27:09Z</dcterms:created>
  <dcterms:modified xsi:type="dcterms:W3CDTF">2025-05-14T10:17:55Z</dcterms:modified>
</cp:coreProperties>
</file>